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Presentiamo DottorCloud: un gestionale unico per tutto il centro medico. Il messaggio di fondo è uno: tutto quello che oggi sta in programmi, fogli e telefoni diversi finisce in un posto solo, e ognuno vede la sua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otto blocchi che vedremo. Non serve usarli tutti dal primo giorno: il centro accende quelli che gli servono e aggiunge gli altri quando vuole. Tutti lavorano sulla stessa scheda del paziente, quindi nessun dato va ricopiato da un programma all'altro.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"ogni utente vede tutto?". No: ogni persona ha un livello (segreteria, medico, amministrazione, marketing, direzione sanitaria, sola lettura) e i livelli si combinano, per esempio il titolare che visita è amministrazione più medico. A destra la stessa paziente vista dal medico e dal marketing: il marketing vede da quale campagna arriva, ma non visite, referti o fatture.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 limite al numero di utenti o di agende: il centro non deve contare le persone prima di aggiungerle. E ogni persona ha una scheda sola: quando un contatto diventa paziente non si crea una seconda anagrafica.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"gestisce più calendari, stanze, attrezzature?". Sì: ogni medico, stanza o attrezzatura è una risorsa con la sua agenda, e una visita può occupare insieme il medico, lo studio e l'ecografo. Qui si vede un appuntamento annullato e il posto riempito dalla lista d'attesa, e una seduta di fisioterapia dentro un abbonamento da dieci.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catalogo dei servizi è il cuore dell'agenda: per ogni prestazione si dice quanto dura, chi la può erogare e dove. Da qui nascono gli orari liberi della prenotazione online, che il paziente usa dal sito del centro senza telefonare.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"gestisce o crea una cartella clinica?". Sì: la persona diventa paziente da sola al primo dato clinico, all'arrivo o alla prima fattura sanitaria, e sulla sua scheda compare la sezione Clinica, visibile solo ai ruoli clinici. Ogni apertura della cartella resta registrata.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in arrivo, non ancora disponibile: dirlo chiaramente. L'assistente aiuta nell'operatività, non fa diagnosi: trascrive quello che il medico dice e lo mette nei campi; farmaci e allergie il medico li conferma uno per uno, poi firma. Il modello gira in Europa e i dati non servono ad addestrarlo.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"che comunicazioni esterne ha?". WhatsApp, SMS ed email arrivano tutti sulla scheda della persona, in una conversazione sola. Promemoria e richieste di conferma partono da soli; la risposta del paziente aggiorna l'appuntamento.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automazioni tolgono lavoro ripetitivo alla segreteria: promemoria, richiami per i controlli, messaggi dopo la visita. Quando serve una persona, l'automazione crea un'attività invece di mandare un messaggio.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"che integrazione ha con la telefonia?". Il centralino è dentro il gestionale: chiamate in entrata e in uscita dal computer, con la scheda del paziente aperta mentre squilla, e lo storico delle chiamate sulla scheda.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i centri che fanno pubblicità: le richieste delle campagne Meta entrano da sole nel gestionale e restano collegate alla campagna, così si sa da dove arrivano i nuovi pazienti. I post dei social si programmano dallo stesso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"gestisce la fatturazione?". Sì: dalla visita svolta nasce la fattura elettronica, che va allo SdI e al Sistema TS. La segreteria vede anche le visite svolte e non ancora fatturate.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"il gestionale ha un'app sul telefono?". Sì, due: quella dello staff, con agenda e pazienti, e l'area del paziente. Il paziente entra solo su invito, la prima volta con un codice e poi con il viso o l'impronta; prima di ogni visita trova la lista delle cose da preparare e firma i moduli dal telefono. Anche i familiari possono seguire un minore o un genitore anziano.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nutrizionisti, fisioterapisti e preparatori: il piano alimentare e gli esercizi a casa arrivano sul telefono del paziente. Il paziente segna i pasti con un tocco, sceglie fra alternative equivalenti decise dal professionista e ha la lista della spesa; gli esercizi hanno l'animazione, le serie e la mappa dei muscoli. La dieta la firma solo chi ha la qualifica per farlo.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dati stanno su server in Europa e dietro c'è un'azienda italiana. I dati clinici li vedono solo i ruoli clinici, ogni lettura della cartella resta registrata, e nessun dato sanitario finisce in una campagna, in una chat o in una notifica.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riepilogo delle domande che ogni centro fa: chi vede cosa, quante agende, cartella clinica, fatturazione, comunicazione, telefono, app e dove stanno i dati. Per ognuna la risposta è sì, ed è tutto nello stesso gestionale.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Chiudere proponendo una demo sui dati e sui servizi del centro: è lì che il gestionale si vede davvero.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rm-mm/brand/logo/png/dottorcloud-orizzontale-negati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3108960" cy="6321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745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gestionale per il tuo centro medico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Agende, cartelle, fatture, messaggi e l'app per i pazienti. In un posto solo.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A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NPM2 Solutions Srl</a:t>
            </a:r>
            <a:endParaRPr lang="en-US" sz="1300" dirty="0"/>
          </a:p>
        </p:txBody>
      </p:sp>
      <p:pic>
        <p:nvPicPr>
          <p:cNvPr id="6" name="Image 1" descr="/home/user/crm-mm/brand/presentazione/sorgenti/img/logo-orb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28092"/>
            <a:ext cx="6217920" cy="27103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centro, in un posto solo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gestionale per segreteria, medici, amministrazione e pazienti. Si accendono i moduli che servono.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679192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" y="2821838"/>
            <a:ext cx="263347" cy="26334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338328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 e stanze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7216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Medici, stanze, attrezzature, lista d'attesa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92424" y="242316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48456" y="2679192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102" y="2821838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48456" y="338328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Cartella clinica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648456" y="37216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Schede, note di visita, referti, consensi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36208" y="242316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92240" y="2679192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86" y="2821838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92240" y="338328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Fatture e Sistema TS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492240" y="37216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 elettronica che nasce dalla visita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079992" y="242316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336024" y="2679192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8670" y="2821838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336024" y="338328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e promemoria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9336024" y="37216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Conferme, promemoria, note interne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452628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4672" y="4782312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318" y="4924958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04672" y="548640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Telefono integrato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804672" y="5824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chiama lo sai prima di rispondere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3392424" y="452628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3648456" y="4782312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102" y="4924958"/>
            <a:ext cx="263347" cy="263347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648456" y="548640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e social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648456" y="5824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Richieste da Meta, post programmati</a:t>
            </a:r>
            <a:endParaRPr lang="en-US" sz="1200" dirty="0"/>
          </a:p>
        </p:txBody>
      </p:sp>
      <p:sp>
        <p:nvSpPr>
          <p:cNvPr id="36" name="Shape 28"/>
          <p:cNvSpPr/>
          <p:nvPr/>
        </p:nvSpPr>
        <p:spPr>
          <a:xfrm>
            <a:off x="6236208" y="452628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492240" y="4782312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4886" y="4924958"/>
            <a:ext cx="263347" cy="263347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492240" y="548640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 area pazienti</a:t>
            </a:r>
            <a:endParaRPr lang="en-US" sz="1600" dirty="0"/>
          </a:p>
        </p:txBody>
      </p:sp>
      <p:sp>
        <p:nvSpPr>
          <p:cNvPr id="40" name="Text 31"/>
          <p:cNvSpPr txBox="1"/>
          <p:nvPr/>
        </p:nvSpPr>
        <p:spPr>
          <a:xfrm>
            <a:off x="6492240" y="5824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Accesso, piani, esercizi, documenti, firme</a:t>
            </a:r>
            <a:endParaRPr lang="en-US" sz="1200" dirty="0"/>
          </a:p>
        </p:txBody>
      </p:sp>
      <p:sp>
        <p:nvSpPr>
          <p:cNvPr id="41" name="Shape 32"/>
          <p:cNvSpPr/>
          <p:nvPr/>
        </p:nvSpPr>
        <p:spPr>
          <a:xfrm>
            <a:off x="9079992" y="452628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9336024" y="4782312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78670" y="4924958"/>
            <a:ext cx="263347" cy="263347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336024" y="548640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Permessi e privacy</a:t>
            </a:r>
            <a:endParaRPr lang="en-US" sz="1600" dirty="0"/>
          </a:p>
        </p:txBody>
      </p:sp>
      <p:sp>
        <p:nvSpPr>
          <p:cNvPr id="45" name="Text 35"/>
          <p:cNvSpPr txBox="1"/>
          <p:nvPr/>
        </p:nvSpPr>
        <p:spPr>
          <a:xfrm>
            <a:off x="9336024" y="5824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Livelli per ruolo, dati in Europa</a:t>
            </a:r>
            <a:endParaRPr lang="en-US" sz="1200" dirty="0"/>
          </a:p>
        </p:txBody>
      </p:sp>
      <p:pic>
        <p:nvPicPr>
          <p:cNvPr id="47" name="Image 8" descr="/home/user/crm-mm/brand/logo/png/dottorcloud-marchi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49" name="Text 3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99032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Organizza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vede solo quello che gli serve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Stessa scheda del paziente, viste diverse a seconda di chi la apre. I livelli si danno persona per persona.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Segreteria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di tutti, arrivi, moduli da firmare, fatture e incassi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 e operatori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propria agenda, i propri pazienti, la cartella clinica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Amministrazione e direzione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Impostazioni, utenti, numeri del centro, fatture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7" y="5610027"/>
            <a:ext cx="228234" cy="22823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07008" y="546811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207008" y="575157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e richieste, senza dati clinici né codice fiscale</a:t>
            </a:r>
            <a:endParaRPr lang="en-US" sz="1200" dirty="0"/>
          </a:p>
        </p:txBody>
      </p:sp>
      <p:pic>
        <p:nvPicPr>
          <p:cNvPr id="22" name="Image 4" descr="/home/user/crm-mm/brand/presentazione/sorgenti/img/livelli-medi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438093"/>
            <a:ext cx="4754880" cy="3512934"/>
          </a:xfrm>
          <a:prstGeom prst="rect">
            <a:avLst/>
          </a:prstGeom>
        </p:spPr>
      </p:pic>
      <p:pic>
        <p:nvPicPr>
          <p:cNvPr id="23" name="Image 5" descr="/home/user/crm-mm/brand/presentazione/sorgenti/img/livelli-market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2872171"/>
            <a:ext cx="4663440" cy="3445377"/>
          </a:xfrm>
          <a:prstGeom prst="rect">
            <a:avLst/>
          </a:prstGeom>
        </p:spPr>
      </p:pic>
      <p:pic>
        <p:nvPicPr>
          <p:cNvPr id="25" name="Image 6" descr="/home/user/crm-mm/brand/logo/png/dottorcloud-marchi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7" name="Text 1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6F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99032" cy="329184"/>
          </a:xfrm>
          <a:prstGeom prst="roundRect">
            <a:avLst>
              <a:gd name="adj" fmla="val 50000"/>
            </a:avLst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Organizza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Utenti illimitati, agende infinite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centro cresce senza cambiare gestionale: si aggiungono persone e agende quando servono.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3474720" cy="3246120"/>
          </a:xfrm>
          <a:prstGeom prst="roundRect">
            <a:avLst>
              <a:gd name="adj" fmla="val 4507"/>
            </a:avLst>
          </a:prstGeom>
          <a:solidFill>
            <a:srgbClr val="0E8073"/>
          </a:solidFill>
          <a:ln w="12700">
            <a:solidFill>
              <a:srgbClr val="0E80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3017520"/>
            <a:ext cx="548640" cy="548640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3160166"/>
            <a:ext cx="263347" cy="26334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3593592"/>
            <a:ext cx="2834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709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Utenti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1206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Medici, segreteria, collaboratori esterni: aggiungi chi serve, quando serve.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97680" y="2697480"/>
            <a:ext cx="3474720" cy="3246120"/>
          </a:xfrm>
          <a:prstGeom prst="roundRect">
            <a:avLst>
              <a:gd name="adj" fmla="val 4507"/>
            </a:avLst>
          </a:prstGeom>
          <a:solidFill>
            <a:srgbClr val="0E8073"/>
          </a:solidFill>
          <a:ln w="12700">
            <a:solidFill>
              <a:srgbClr val="0E807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3017520"/>
            <a:ext cx="548640" cy="548640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366" y="3160166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17720" y="3593592"/>
            <a:ext cx="2834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72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709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51206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Un'agenda per ogni medico, stanza o attrezzatura, tutte insieme.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46720" y="2697480"/>
            <a:ext cx="3474720" cy="3246120"/>
          </a:xfrm>
          <a:prstGeom prst="roundRect">
            <a:avLst>
              <a:gd name="adj" fmla="val 4507"/>
            </a:avLst>
          </a:prstGeom>
          <a:solidFill>
            <a:srgbClr val="0E8073"/>
          </a:solidFill>
          <a:ln w="12700">
            <a:solidFill>
              <a:srgbClr val="0E807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66760" y="3017520"/>
            <a:ext cx="548640" cy="548640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406" y="3160166"/>
            <a:ext cx="263347" cy="26334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66760" y="3593592"/>
            <a:ext cx="2834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709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per persona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51206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Contatto e paziente sono la stessa scheda: niente doppioni da riconciliare.</a:t>
            </a:r>
            <a:endParaRPr lang="en-US" sz="1300" dirty="0"/>
          </a:p>
        </p:txBody>
      </p:sp>
      <p:pic>
        <p:nvPicPr>
          <p:cNvPr id="25" name="Image 3" descr="/home/user/crm-mm/brand/logo/png/dottorcloud-marchio-bian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99032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Organizza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agende, stanze e attrezzature, insieme</a:t>
            </a:r>
            <a:endParaRPr lang="en-US" sz="3200" dirty="0"/>
          </a:p>
        </p:txBody>
      </p:sp>
      <p:pic>
        <p:nvPicPr>
          <p:cNvPr id="5" name="Image 0" descr="/home/user/crm-mm/brand/presentazione/sorgenti/img/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77692"/>
            <a:ext cx="7680960" cy="35370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20116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8947" y="21353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33688" y="19933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per risorse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933688" y="227685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 per medico, stanza, ecografo o palestra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275320" y="30632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8947" y="3186867"/>
            <a:ext cx="228234" cy="22823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33688" y="304495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d'attesa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933688" y="332841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posto si libera e il primo in lista viene avvisato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275320" y="411480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947" y="4238427"/>
            <a:ext cx="228234" cy="22823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933688" y="409651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Abbonamenti e pacchetti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933688" y="437997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Sedute contate: "4 di 10" direttamente in agenda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275320" y="516636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947" y="5289987"/>
            <a:ext cx="228234" cy="22823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33688" y="514807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Sedute di gruppo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933688" y="543153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partecipanti nello stesso appuntamento</a:t>
            </a:r>
            <a:endParaRPr lang="en-US" sz="1200" dirty="0"/>
          </a:p>
        </p:txBody>
      </p:sp>
      <p:pic>
        <p:nvPicPr>
          <p:cNvPr id="23" name="Image 5" descr="/home/user/crm-mm/brand/logo/png/dottorcloud-march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548640"/>
            <a:ext cx="1399032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629400" y="548640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Organizza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629400" y="10058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e personale: chi fa cosa, e dove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servizio sa quanto dura, chi lo può fare e che stanza o attrezzatura gli serve.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29400" y="301752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302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87768" y="299923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fa cosa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287768" y="328269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griglia servizi × persone, modificabile in un clic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29400" y="38404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02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7768" y="382219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Durata, stanza, attrezzatura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287768" y="410565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L'agenda propone solo gli orari davvero liberi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629400" y="46634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02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87768" y="464515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Prenotazione online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287768" y="492861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paziente prenota dal sito, a qualsiasi ora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629400" y="548640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027" y="5610027"/>
            <a:ext cx="228234" cy="22823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87768" y="546811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Pacchetti e abbonamenti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7287768" y="575157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Cicli di sedute venduti e seguiti nel tempo</a:t>
            </a:r>
            <a:endParaRPr lang="en-US" sz="1200" dirty="0"/>
          </a:p>
        </p:txBody>
      </p:sp>
      <p:pic>
        <p:nvPicPr>
          <p:cNvPr id="22" name="Image 4" descr="/home/user/crm-mm/brand/presentazione/sorgenti/img/serviz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855294"/>
            <a:ext cx="5989320" cy="4964531"/>
          </a:xfrm>
          <a:prstGeom prst="rect">
            <a:avLst/>
          </a:prstGeom>
        </p:spPr>
      </p:pic>
      <p:pic>
        <p:nvPicPr>
          <p:cNvPr id="24" name="Image 5" descr="/home/user/crm-mm/brand/logo/png/dottorcloud-march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964692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9646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cartella clinica, dentro il gestionale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della persona compare la sezione Clinica, solo per chi cura.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Allergie, terapie, parametri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sintesi del paziente sempre in alto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di visita firmate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Scritte dal medico, firmate e poi solo integrate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Referti e documenti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Archiviati sulla scheda, con il lucchetto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7" y="5610027"/>
            <a:ext cx="228234" cy="22823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07008" y="546811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Consensi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207008" y="575157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firmato cosa, quando, e con quale firma</a:t>
            </a:r>
            <a:endParaRPr lang="en-US" sz="1200" dirty="0"/>
          </a:p>
        </p:txBody>
      </p:sp>
      <p:pic>
        <p:nvPicPr>
          <p:cNvPr id="22" name="Image 4" descr="/home/user/crm-mm/brand/presentazione/sorgenti/img/clinic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570631"/>
            <a:ext cx="5989320" cy="5533858"/>
          </a:xfrm>
          <a:prstGeom prst="rect">
            <a:avLst/>
          </a:prstGeom>
        </p:spPr>
      </p:pic>
      <p:pic>
        <p:nvPicPr>
          <p:cNvPr id="24" name="Image 5" descr="/home/user/crm-mm/brand/logo/png/dottorcloud-march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964692" cy="329184"/>
          </a:xfrm>
          <a:prstGeom prst="roundRect">
            <a:avLst>
              <a:gd name="adj" fmla="val 50000"/>
            </a:avLst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9646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arrivo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L'assistente IA per il medico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medico detta la visita, l'assistente scrive la bozza nei campi della scheda. Ospitato in Europa, conforme al GDPR.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475488" cy="475488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Dettatura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visita detta diventa la bozza della nota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75488" cy="475488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il medico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si salva da solo: il medico conferma e firma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475488" cy="475488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Europa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ospitato in UE, senza addestramento sui dati</a:t>
            </a:r>
            <a:endParaRPr lang="en-US" sz="1200" dirty="0"/>
          </a:p>
        </p:txBody>
      </p:sp>
      <p:pic>
        <p:nvPicPr>
          <p:cNvPr id="18" name="Image 3" descr="/home/user/crm-mm/brand/presentazione/sorgenti/img/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910750"/>
            <a:ext cx="5989320" cy="4853621"/>
          </a:xfrm>
          <a:prstGeom prst="rect">
            <a:avLst/>
          </a:prstGeom>
        </p:spPr>
      </p:pic>
      <p:pic>
        <p:nvPicPr>
          <p:cNvPr id="20" name="Image 4" descr="/home/user/crm-mm/brand/logo/png/dottorcloud-marchio-bi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2" name="Text 14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12164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3121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Comunica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promemoria e conferme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Tutta la conversazione sta sulla scheda del paziente, insieme alle note interne dello staff.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nel gestionale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segreteria risponde dalla scheda del paziente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Promemoria automatici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della visita, senza che nessuno se ne ricordi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Conferme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paziente risponde "Sì" e l'appuntamento è confermato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7" y="5610027"/>
            <a:ext cx="228234" cy="22823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07008" y="546811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interne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207008" y="575157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 solo allo staff, nella stessa conversazione</a:t>
            </a:r>
            <a:endParaRPr lang="en-US" sz="1200" dirty="0"/>
          </a:p>
        </p:txBody>
      </p:sp>
      <p:pic>
        <p:nvPicPr>
          <p:cNvPr id="22" name="Image 4" descr="/home/user/crm-mm/brand/presentazione/sorgenti/img/cha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456765"/>
            <a:ext cx="5989320" cy="5761589"/>
          </a:xfrm>
          <a:prstGeom prst="rect">
            <a:avLst/>
          </a:prstGeom>
        </p:spPr>
      </p:pic>
      <p:pic>
        <p:nvPicPr>
          <p:cNvPr id="24" name="Image 5" descr="/home/user/crm-mm/brand/logo/png/dottorcloud-march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12164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3121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Comunica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Automazioni che lavorano al posto tuo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evento, un'attesa, un messaggio: i flussi si disegnano una volta e girano da soli.</a:t>
            </a:r>
            <a:endParaRPr lang="en-US" sz="1500" dirty="0"/>
          </a:p>
        </p:txBody>
      </p:sp>
      <p:pic>
        <p:nvPicPr>
          <p:cNvPr id="6" name="Image 0" descr="/home/user/crm-mm/brand/presentazione/sorgenti/img/au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8943" y="2240280"/>
            <a:ext cx="9483634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532120"/>
            <a:ext cx="420624" cy="420624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02" y="564148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5486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Promemoria e conferme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5742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ogni visita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383280" y="5532120"/>
            <a:ext cx="420624" cy="420624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642" y="564148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31920" y="5486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Richiami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3931920" y="5742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 controlli periodici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17920" y="5532120"/>
            <a:ext cx="420624" cy="420624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282" y="5641482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66560" y="5486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visita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766560" y="5742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messaggio e una recensione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9052560" y="5532120"/>
            <a:ext cx="420624" cy="420624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1922" y="5641482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601200" y="5486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Attività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9601200" y="5742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segreteria, se serve una persona</a:t>
            </a:r>
            <a:endParaRPr lang="en-US" sz="1150" dirty="0"/>
          </a:p>
        </p:txBody>
      </p:sp>
      <p:pic>
        <p:nvPicPr>
          <p:cNvPr id="24" name="Image 5" descr="/home/user/crm-mm/brand/logo/png/dottorcloud-march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12164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3121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Comunica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telefono, dentro il gestionale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il telefono squilla, sullo schermo c'è già la scheda di chi chiama.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chiama, prima di rispondere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prossima visita, ultimo messaggio, fatture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Chiamare con un clic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scheda del paziente, dal computer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Storico e registrazioni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chiamata resta sulla scheda della persona</a:t>
            </a:r>
            <a:endParaRPr lang="en-US" sz="1200" dirty="0"/>
          </a:p>
        </p:txBody>
      </p:sp>
      <p:pic>
        <p:nvPicPr>
          <p:cNvPr id="18" name="Image 3" descr="/home/user/crm-mm/brand/presentazione/sorgenti/img/chiama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60110"/>
            <a:ext cx="5852160" cy="4263460"/>
          </a:xfrm>
          <a:prstGeom prst="rect">
            <a:avLst/>
          </a:prstGeom>
        </p:spPr>
      </p:pic>
      <p:pic>
        <p:nvPicPr>
          <p:cNvPr id="20" name="Image 4" descr="/home/user/crm-mm/brand/logo/png/dottorcloud-march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2" name="Text 14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12164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3121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Comunica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Meta e post social, dallo stesso posto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compila il modulo di un'inserzione entra fra le persone, con la campagna da cui arriva.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Richieste da Facebook e Instagram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Arrivano da sole, senza copiarle a mano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dove arrivano i pazienti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paziente con la sua campagna d'origine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programmati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calendario dei social del centro</a:t>
            </a:r>
            <a:endParaRPr lang="en-US" sz="1200" dirty="0"/>
          </a:p>
        </p:txBody>
      </p:sp>
      <p:pic>
        <p:nvPicPr>
          <p:cNvPr id="18" name="Image 3" descr="/home/user/crm-mm/brand/presentazione/sorgenti/img/soci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620" y="411480"/>
            <a:ext cx="3091879" cy="3429000"/>
          </a:xfrm>
          <a:prstGeom prst="rect">
            <a:avLst/>
          </a:prstGeom>
        </p:spPr>
      </p:pic>
      <p:pic>
        <p:nvPicPr>
          <p:cNvPr id="19" name="Image 4" descr="/home/user/crm-mm/brand/presentazione/sorgenti/img/le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9648" y="4114800"/>
            <a:ext cx="4634144" cy="1828800"/>
          </a:xfrm>
          <a:prstGeom prst="rect">
            <a:avLst/>
          </a:prstGeom>
        </p:spPr>
      </p:pic>
      <p:pic>
        <p:nvPicPr>
          <p:cNvPr id="21" name="Image 5" descr="/home/user/crm-mm/brand/logo/png/dottorcloud-march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3" name="Text 14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548640"/>
            <a:ext cx="1312164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629400" y="548640"/>
            <a:ext cx="13121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Gestisci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629400" y="10058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fattura nasce dalla visita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Elettronica, allo SdI e al Sistema TS, senza ricopiare niente.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29400" y="301752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302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87768" y="299923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Dall'appuntamento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287768" y="328269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Paziente, prestazioni e professionista sono già lì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29400" y="38404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02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7768" y="382219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SdI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287768" y="410565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Invio e ricevute di consegna nel gestionale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629400" y="46634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02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87768" y="464515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TS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287768" y="492861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spese sanitarie trasmesse per la precompilata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629400" y="548640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027" y="5610027"/>
            <a:ext cx="228234" cy="22823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87768" y="546811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Bollo e numerazione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7287768" y="575157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mette il gestionale</a:t>
            </a:r>
            <a:endParaRPr lang="en-US" sz="1200" dirty="0"/>
          </a:p>
        </p:txBody>
      </p:sp>
      <p:pic>
        <p:nvPicPr>
          <p:cNvPr id="22" name="Image 4" descr="/home/user/crm-mm/brand/presentazione/sorgenti/img/fattur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" y="411480"/>
            <a:ext cx="5852160" cy="5852160"/>
          </a:xfrm>
          <a:prstGeom prst="rect">
            <a:avLst/>
          </a:prstGeom>
        </p:spPr>
      </p:pic>
      <p:pic>
        <p:nvPicPr>
          <p:cNvPr id="24" name="Image 5" descr="/home/user/crm-mm/brand/logo/png/dottorcloud-march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572768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Il paziente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Un'app per lo staff, un'area per i pazienti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 e segreteria lavorano anche dal telefono. I pazienti hanno la loro area, con il nome del centro.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400982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38679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sicuro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415137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via SMS, poi viso o impronta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466344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7008" y="464515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la visita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492861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e consensi firmati dal telefono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544068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556430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07008" y="542239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 e messaggi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07008" y="570585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Referti, fatture, comunicazioni del medico</a:t>
            </a:r>
            <a:endParaRPr lang="en-US" sz="1200" dirty="0"/>
          </a:p>
        </p:txBody>
      </p:sp>
      <p:pic>
        <p:nvPicPr>
          <p:cNvPr id="18" name="Image 3" descr="/home/user/crm-mm/brand/presentazione/sorgenti/img/log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934252"/>
            <a:ext cx="2697480" cy="4898056"/>
          </a:xfrm>
          <a:prstGeom prst="rect">
            <a:avLst/>
          </a:prstGeom>
        </p:spPr>
      </p:pic>
      <p:pic>
        <p:nvPicPr>
          <p:cNvPr id="19" name="Image 4" descr="/home/user/crm-mm/brand/presentazione/sorgenti/img/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934252"/>
            <a:ext cx="2697480" cy="4898056"/>
          </a:xfrm>
          <a:prstGeom prst="rect">
            <a:avLst/>
          </a:prstGeom>
        </p:spPr>
      </p:pic>
      <p:pic>
        <p:nvPicPr>
          <p:cNvPr id="20" name="Image 5" descr="/home/user/crm-mm/brand/presentazione/sorgenti/img/firm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2600" y="992809"/>
            <a:ext cx="2697480" cy="4780942"/>
          </a:xfrm>
          <a:prstGeom prst="rect">
            <a:avLst/>
          </a:prstGeom>
        </p:spPr>
      </p:pic>
      <p:pic>
        <p:nvPicPr>
          <p:cNvPr id="22" name="Image 6" descr="/home/user/crm-mm/brand/logo/png/dottorcloud-marchi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4" name="Text 14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572768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Il paziente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 alimentari ed esercizi, sul telefono del paziente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scrive il professionista, il paziente li segue e segna cosa ha fatto.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378122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36393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alimentare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392277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Pasti con un tocco, alternative equivalenti, lista della spesa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448056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460418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07008" y="446227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 a casa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474573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Animazioni, serie e ripetizioni, muscoli che lavorano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475488" cy="475488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542714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07008" y="528523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professionista vede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07008" y="556869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è stato fatto, e risponde dall'app</a:t>
            </a:r>
            <a:endParaRPr lang="en-US" sz="1200" dirty="0"/>
          </a:p>
        </p:txBody>
      </p:sp>
      <p:pic>
        <p:nvPicPr>
          <p:cNvPr id="18" name="Image 3" descr="/home/user/crm-mm/brand/presentazione/sorgenti/img/di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934252"/>
            <a:ext cx="2697480" cy="4898056"/>
          </a:xfrm>
          <a:prstGeom prst="rect">
            <a:avLst/>
          </a:prstGeom>
        </p:spPr>
      </p:pic>
      <p:pic>
        <p:nvPicPr>
          <p:cNvPr id="19" name="Image 4" descr="/home/user/crm-mm/brand/presentazione/sorgenti/img/eserciz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934252"/>
            <a:ext cx="2697480" cy="4898056"/>
          </a:xfrm>
          <a:prstGeom prst="rect">
            <a:avLst/>
          </a:prstGeom>
        </p:spPr>
      </p:pic>
      <p:pic>
        <p:nvPicPr>
          <p:cNvPr id="20" name="Image 5" descr="/home/user/crm-mm/brand/presentazione/sorgenti/img/muscol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0" y="1015484"/>
            <a:ext cx="2286000" cy="3089672"/>
          </a:xfrm>
          <a:prstGeom prst="rect">
            <a:avLst/>
          </a:prstGeom>
        </p:spPr>
      </p:pic>
      <p:pic>
        <p:nvPicPr>
          <p:cNvPr id="21" name="Image 6" descr="/home/user/crm-mm/brand/presentazione/sorgenti/img/spes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1218" y="4114800"/>
            <a:ext cx="2274524" cy="2194560"/>
          </a:xfrm>
          <a:prstGeom prst="rect">
            <a:avLst/>
          </a:prstGeom>
        </p:spPr>
      </p:pic>
      <p:pic>
        <p:nvPicPr>
          <p:cNvPr id="23" name="Image 7" descr="/home/user/crm-mm/brand/logo/png/dottorcloud-march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5" name="Text 14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548640"/>
            <a:ext cx="1399032" cy="329184"/>
          </a:xfrm>
          <a:prstGeom prst="roundRect">
            <a:avLst>
              <a:gd name="adj" fmla="val 50000"/>
            </a:avLst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629400" y="548640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 GDPR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629400" y="10058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dei pazienti, protetti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sanitari trattati come tali: separati, tracciati e in Europa.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29400" y="3017520"/>
            <a:ext cx="475488" cy="475488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3027" y="3141147"/>
            <a:ext cx="228234" cy="2282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87768" y="299923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in Europa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287768" y="328269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dei pazienti non escono dall'Unione europea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29400" y="3840480"/>
            <a:ext cx="475488" cy="475488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027" y="3964107"/>
            <a:ext cx="228234" cy="2282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7768" y="382219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Un'azienda italiana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287768" y="410565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Vicina, raggiungibile, che parla la tua lingua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629400" y="4663440"/>
            <a:ext cx="475488" cy="475488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027" y="478706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87768" y="464515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accesso registrato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287768" y="492861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aperto la cartella, e quando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629400" y="5486400"/>
            <a:ext cx="475488" cy="475488"/>
          </a:xfrm>
          <a:prstGeom prst="ellipse">
            <a:avLst/>
          </a:prstGeom>
          <a:solidFill>
            <a:srgbClr val="0E3B36"/>
          </a:solidFill>
          <a:ln w="12700">
            <a:solidFill>
              <a:srgbClr val="0E3B36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027" y="5610027"/>
            <a:ext cx="228234" cy="22823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87768" y="546811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Consensi e confini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7287768" y="575157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clinico nel marketing o nelle notifiche</a:t>
            </a:r>
            <a:endParaRPr lang="en-US" sz="1200" dirty="0"/>
          </a:p>
        </p:txBody>
      </p:sp>
      <p:pic>
        <p:nvPicPr>
          <p:cNvPr id="22" name="Image 4" descr="/home/user/crm-mm/brand/presentazione/sorgenti/img/gdp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22960"/>
            <a:ext cx="4937760" cy="4937760"/>
          </a:xfrm>
          <a:prstGeom prst="rect">
            <a:avLst/>
          </a:prstGeom>
        </p:spPr>
      </p:pic>
      <p:pic>
        <p:nvPicPr>
          <p:cNvPr id="24" name="Image 5" descr="/home/user/crm-mm/brand/logo/png/dottorcloud-marchio-bianc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sintesi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che un centro medico chiede, c'è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94560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" y="2337206"/>
            <a:ext cx="263347" cy="26334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596896" y="2231136"/>
            <a:ext cx="310896" cy="310896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729" y="2311969"/>
            <a:ext cx="149230" cy="14923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4672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Permessi per ruolo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04672" y="33101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vede la sua parte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392424" y="192024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648456" y="2194560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102" y="2337206"/>
            <a:ext cx="263347" cy="263347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440680" y="2231136"/>
            <a:ext cx="310896" cy="310896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1513" y="2311969"/>
            <a:ext cx="149230" cy="14923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648456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 senza limiti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3648456" y="33101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Medici, stanze, attrezzature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236208" y="192024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6492240" y="2194560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4886" y="2337206"/>
            <a:ext cx="263347" cy="263347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8284464" y="2231136"/>
            <a:ext cx="310896" cy="310896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5297" y="2311969"/>
            <a:ext cx="149230" cy="14923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492240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Cartella clinica</a:t>
            </a:r>
            <a:endParaRPr lang="en-US" sz="1700" dirty="0"/>
          </a:p>
        </p:txBody>
      </p:sp>
      <p:sp>
        <p:nvSpPr>
          <p:cNvPr id="25" name="Text 17"/>
          <p:cNvSpPr txBox="1"/>
          <p:nvPr/>
        </p:nvSpPr>
        <p:spPr>
          <a:xfrm>
            <a:off x="6492240" y="33101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Schede, note, referti archiviati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9079992" y="192024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336024" y="2194560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8670" y="2337206"/>
            <a:ext cx="263347" cy="263347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128248" y="2231136"/>
            <a:ext cx="310896" cy="310896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09081" y="2311969"/>
            <a:ext cx="149230" cy="14923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9336024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Fatturazione</a:t>
            </a:r>
            <a:endParaRPr lang="en-US" sz="1700" dirty="0"/>
          </a:p>
        </p:txBody>
      </p:sp>
      <p:sp>
        <p:nvSpPr>
          <p:cNvPr id="32" name="Text 22"/>
          <p:cNvSpPr txBox="1"/>
          <p:nvPr/>
        </p:nvSpPr>
        <p:spPr>
          <a:xfrm>
            <a:off x="9336024" y="33101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Elettronica, SdI e Sistema TS</a:t>
            </a:r>
            <a:endParaRPr lang="en-US" sz="1250" dirty="0"/>
          </a:p>
        </p:txBody>
      </p:sp>
      <p:sp>
        <p:nvSpPr>
          <p:cNvPr id="33" name="Shape 23"/>
          <p:cNvSpPr/>
          <p:nvPr/>
        </p:nvSpPr>
        <p:spPr>
          <a:xfrm>
            <a:off x="548640" y="416052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804672" y="4434840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7318" y="4577486"/>
            <a:ext cx="263347" cy="263347"/>
          </a:xfrm>
          <a:prstGeom prst="rect">
            <a:avLst/>
          </a:prstGeom>
        </p:spPr>
      </p:pic>
      <p:sp>
        <p:nvSpPr>
          <p:cNvPr id="36" name="Shape 25"/>
          <p:cNvSpPr/>
          <p:nvPr/>
        </p:nvSpPr>
        <p:spPr>
          <a:xfrm>
            <a:off x="2596896" y="4471416"/>
            <a:ext cx="310896" cy="310896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77729" y="4552249"/>
            <a:ext cx="149230" cy="14923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804672" y="51663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Comunicazione</a:t>
            </a:r>
            <a:endParaRPr lang="en-US" sz="1700" dirty="0"/>
          </a:p>
        </p:txBody>
      </p:sp>
      <p:sp>
        <p:nvSpPr>
          <p:cNvPr id="39" name="Text 27"/>
          <p:cNvSpPr txBox="1"/>
          <p:nvPr/>
        </p:nvSpPr>
        <p:spPr>
          <a:xfrm>
            <a:off x="804672" y="55504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promemoria, conferme</a:t>
            </a:r>
            <a:endParaRPr lang="en-US" sz="1250" dirty="0"/>
          </a:p>
        </p:txBody>
      </p:sp>
      <p:sp>
        <p:nvSpPr>
          <p:cNvPr id="40" name="Shape 28"/>
          <p:cNvSpPr/>
          <p:nvPr/>
        </p:nvSpPr>
        <p:spPr>
          <a:xfrm>
            <a:off x="3392424" y="416052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41" name="Shape 29"/>
          <p:cNvSpPr/>
          <p:nvPr/>
        </p:nvSpPr>
        <p:spPr>
          <a:xfrm>
            <a:off x="3648456" y="4434840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91102" y="4577486"/>
            <a:ext cx="263347" cy="263347"/>
          </a:xfrm>
          <a:prstGeom prst="rect">
            <a:avLst/>
          </a:prstGeom>
        </p:spPr>
      </p:pic>
      <p:sp>
        <p:nvSpPr>
          <p:cNvPr id="43" name="Shape 30"/>
          <p:cNvSpPr/>
          <p:nvPr/>
        </p:nvSpPr>
        <p:spPr>
          <a:xfrm>
            <a:off x="5440680" y="4471416"/>
            <a:ext cx="310896" cy="310896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4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21513" y="4552249"/>
            <a:ext cx="149230" cy="14923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3648456" y="51663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Telefono integrato</a:t>
            </a:r>
            <a:endParaRPr lang="en-US" sz="1700" dirty="0"/>
          </a:p>
        </p:txBody>
      </p:sp>
      <p:sp>
        <p:nvSpPr>
          <p:cNvPr id="46" name="Text 32"/>
          <p:cNvSpPr txBox="1"/>
          <p:nvPr/>
        </p:nvSpPr>
        <p:spPr>
          <a:xfrm>
            <a:off x="3648456" y="55504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si apre mentre squilla</a:t>
            </a:r>
            <a:endParaRPr lang="en-US" sz="1250" dirty="0"/>
          </a:p>
        </p:txBody>
      </p:sp>
      <p:sp>
        <p:nvSpPr>
          <p:cNvPr id="47" name="Shape 33"/>
          <p:cNvSpPr/>
          <p:nvPr/>
        </p:nvSpPr>
        <p:spPr>
          <a:xfrm>
            <a:off x="6236208" y="416052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6492240" y="4434840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4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34886" y="4577486"/>
            <a:ext cx="263347" cy="263347"/>
          </a:xfrm>
          <a:prstGeom prst="rect">
            <a:avLst/>
          </a:prstGeom>
        </p:spPr>
      </p:pic>
      <p:sp>
        <p:nvSpPr>
          <p:cNvPr id="50" name="Shape 35"/>
          <p:cNvSpPr/>
          <p:nvPr/>
        </p:nvSpPr>
        <p:spPr>
          <a:xfrm>
            <a:off x="8284464" y="4471416"/>
            <a:ext cx="310896" cy="310896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5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65297" y="4552249"/>
            <a:ext cx="149230" cy="149230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6492240" y="51663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700" dirty="0"/>
          </a:p>
        </p:txBody>
      </p:sp>
      <p:sp>
        <p:nvSpPr>
          <p:cNvPr id="53" name="Text 37"/>
          <p:cNvSpPr txBox="1"/>
          <p:nvPr/>
        </p:nvSpPr>
        <p:spPr>
          <a:xfrm>
            <a:off x="6492240" y="55504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lo staff e per i pazienti</a:t>
            </a:r>
            <a:endParaRPr lang="en-US" sz="1250" dirty="0"/>
          </a:p>
        </p:txBody>
      </p:sp>
      <p:sp>
        <p:nvSpPr>
          <p:cNvPr id="54" name="Shape 38"/>
          <p:cNvSpPr/>
          <p:nvPr/>
        </p:nvSpPr>
        <p:spPr>
          <a:xfrm>
            <a:off x="9079992" y="416052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3E9E7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sp>
        <p:nvSpPr>
          <p:cNvPr id="55" name="Shape 39"/>
          <p:cNvSpPr/>
          <p:nvPr/>
        </p:nvSpPr>
        <p:spPr>
          <a:xfrm>
            <a:off x="9336024" y="4434840"/>
            <a:ext cx="548640" cy="548640"/>
          </a:xfrm>
          <a:prstGeom prst="ellipse">
            <a:avLst/>
          </a:prstGeom>
          <a:solidFill>
            <a:srgbClr val="E1F5F1"/>
          </a:solidFill>
          <a:ln w="12700">
            <a:solidFill>
              <a:srgbClr val="E1F5F1"/>
            </a:solidFill>
            <a:prstDash val="solid"/>
          </a:ln>
        </p:spPr>
      </p:sp>
      <p:pic>
        <p:nvPicPr>
          <p:cNvPr id="5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478670" y="4577486"/>
            <a:ext cx="263347" cy="263347"/>
          </a:xfrm>
          <a:prstGeom prst="rect">
            <a:avLst/>
          </a:prstGeom>
        </p:spPr>
      </p:pic>
      <p:sp>
        <p:nvSpPr>
          <p:cNvPr id="57" name="Shape 40"/>
          <p:cNvSpPr/>
          <p:nvPr/>
        </p:nvSpPr>
        <p:spPr>
          <a:xfrm>
            <a:off x="11128248" y="4471416"/>
            <a:ext cx="310896" cy="310896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5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09081" y="4552249"/>
            <a:ext cx="149230" cy="149230"/>
          </a:xfrm>
          <a:prstGeom prst="rect">
            <a:avLst/>
          </a:prstGeom>
        </p:spPr>
      </p:pic>
      <p:sp>
        <p:nvSpPr>
          <p:cNvPr id="59" name="Text 41"/>
          <p:cNvSpPr txBox="1"/>
          <p:nvPr/>
        </p:nvSpPr>
        <p:spPr>
          <a:xfrm>
            <a:off x="9336024" y="51663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protetti</a:t>
            </a:r>
            <a:endParaRPr lang="en-US" sz="1700" dirty="0"/>
          </a:p>
        </p:txBody>
      </p:sp>
      <p:sp>
        <p:nvSpPr>
          <p:cNvPr id="60" name="Text 42"/>
          <p:cNvSpPr txBox="1"/>
          <p:nvPr/>
        </p:nvSpPr>
        <p:spPr>
          <a:xfrm>
            <a:off x="9336024" y="55504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europei, azienda italiana</a:t>
            </a:r>
            <a:endParaRPr lang="en-US" sz="1250" dirty="0"/>
          </a:p>
        </p:txBody>
      </p:sp>
      <p:pic>
        <p:nvPicPr>
          <p:cNvPr id="62" name="Image 16" descr="/home/user/crm-mm/brand/logo/png/dottorcloud-marchio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64" name="Text 44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rm-mm/brand/logo/png/dottorcloud-orizzontale-negati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168" y="1371600"/>
            <a:ext cx="4023360" cy="8180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606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Vediamolo sul vostro centro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1463040" y="3520440"/>
            <a:ext cx="9262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demo con i vostri servizi, le vostre agende e il vostro modo di lavorare.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NPM2 Solutions Srl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NPM2 Solutions Srl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DottorCloud — il gestionale per il tuo centro medico</dc:title>
  <dc:subject>PptxGenJS Presentation</dc:subject>
  <dc:creator>NPM2 Solutions Srl</dc:creator>
  <cp:lastModifiedBy>NPM2 Solutions Srl</cp:lastModifiedBy>
  <cp:revision>1</cp:revision>
  <dcterms:created xsi:type="dcterms:W3CDTF">2026-09-29T22:06:19Z</dcterms:created>
  <dcterms:modified xsi:type="dcterms:W3CDTF">2026-09-29T22:06:19Z</dcterms:modified>
</cp:coreProperties>
</file>